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1" r:id="rId9"/>
    <p:sldId id="265" r:id="rId10"/>
    <p:sldId id="260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D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AD14E-10E3-6F74-1142-96FFD3D04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7844C-43FC-9488-9396-946C8ECE2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6C1B4-3281-5FC8-0C38-42E4571D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89749-00FF-64E6-DC01-C2F8CC1E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694EE-504F-BBF2-D8B9-78E9DE5F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974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76B07-9944-1FD9-F2A7-4E479C40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76A13-E5C1-7163-BD87-D36C09238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CEAFB-DFAA-D842-2A28-DDFD81FD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9428E-19FF-8261-FA23-3FCCE687B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58002-DF10-DACF-89DB-0EFB7AD3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32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AC6F-EB3A-5BE2-9E26-8876C2AF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656D4-91D4-2F1A-B7AE-994D77E50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47620-49E0-01F6-0174-90ED788CD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EDBC3-4A36-A94D-565C-FDB2DE81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8FF96-DA7A-8564-661F-AE5EAE3A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432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F3AB-0493-F839-06F5-A5F4AE33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8424B-394C-5B14-6A8D-B167AFF2E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5B2D5-F41A-85BE-BF58-F28DCA066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16D9B-5FEF-BBB9-A5E4-8680669DD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17404-7EAF-A5D9-02F5-F6DDDD03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6B91A-826C-84FA-A3D9-8049A16F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97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787F-0E04-FF7E-4A61-247BFFC0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BFF3E-2BCA-1789-0014-ECAF22F5F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7A264-8211-67D7-4C08-BEA610208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B5326-0812-DE89-B045-546BCD5C6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30725-493B-E0B1-552E-61A77068A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6E8F25-7804-C980-8493-F4211D774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93BA5-31A6-A640-E265-3D837365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C098A0-B76C-105D-CAF3-2A5410A7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333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373F-A574-676A-02A4-8C18C7F1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5D872-84AB-7BEF-2D32-885F341D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67F43-AD86-CDD2-39DA-3105AC09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424F1-4EF5-B38C-E989-D0E036DD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594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8F259-6393-045A-3433-80EC6D02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AB7E2-AFD1-3FC7-9F2D-D18EEB77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68C78-C92A-AE71-C4E2-F73DF8D8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0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233C-C9CE-53F0-D513-9BDD46BA6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F5059-64F6-F8D9-8525-5E306AAA6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0FE7A-296B-CE36-A6AA-683F9A845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DA05C-D6EB-BF20-C152-D82255F2D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1B3E8-6C13-959B-190F-875EB452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0E5A3-C7D4-B4E1-45A7-80E6CB41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78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2D322-3383-7469-49BD-181B78910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06E031-6EFC-3C8A-3F55-72C1396E4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D7C58-1EFF-1593-BF07-6FF85466D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FAED7-C517-59EF-FD85-5FF087FC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B153C-EDA6-282D-4062-F1238705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6FF88-0790-6F7E-D224-42B7B7BC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90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3BC3-A436-0FFF-1AE9-F65374109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FB09D-8324-0330-2A9E-4276A7C12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13422-0C20-8F42-3D3F-DE9C8120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4C463-46EB-1C8A-5D16-723F93CBA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1121C-67E2-E9B8-7D50-BD392415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300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443172-F573-941D-7B9A-FBCC9FD756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295E3-9F60-D30A-BF83-4393D6D21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E490A-9695-B532-2BCE-81AA6EDE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4CFC3-AFAB-EF41-2675-EB84021F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DC031-A26B-772C-4CAA-7C235A68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795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5D3F80-FB19-E0DD-D2A0-990659892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1859A-2E3A-7032-7DDA-D9899D345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1D262-8D93-B399-60D2-841D8A885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C7046-492A-47C3-B4F4-FCA105C44D2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76402-6189-ED39-76B5-EC5A1DE46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D03CF-CF9D-17A4-A5A3-04905BEE2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5DBC1-AA6B-4CE2-8C54-E1B23C1C3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138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meshgorrila/langchain-for-beginner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ttings/tokens/new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83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2901-64F1-A2A0-6EB4-A9F83398E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Course Setup: Prerequisites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FBC98-523D-312F-933F-5D2BC2DBA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GitHub account</a:t>
            </a:r>
          </a:p>
          <a:p>
            <a:r>
              <a:rPr lang="en-IN" dirty="0"/>
              <a:t>Basic command line knowledge</a:t>
            </a:r>
          </a:p>
          <a:p>
            <a:r>
              <a:rPr lang="en-IN" dirty="0"/>
              <a:t>Text editor or IDE (</a:t>
            </a:r>
            <a:r>
              <a:rPr lang="en-IN" dirty="0" err="1"/>
              <a:t>eg</a:t>
            </a:r>
            <a:r>
              <a:rPr lang="en-IN" dirty="0"/>
              <a:t> VS Code, Cursor)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307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B4A31-7789-0209-08C5-EE45F4B3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Course Setup: </a:t>
            </a:r>
            <a:r>
              <a:rPr lang="en-IN" b="1" dirty="0"/>
              <a:t>Local Development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815BB-F3AD-0D08-DB93-D6A1F80A8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Step 1: Install Python</a:t>
            </a:r>
          </a:p>
          <a:p>
            <a:pPr lvl="1"/>
            <a:r>
              <a:rPr lang="en-IN" dirty="0"/>
              <a:t>python –version</a:t>
            </a:r>
          </a:p>
          <a:p>
            <a:pPr lvl="1"/>
            <a:r>
              <a:rPr lang="en-IN" dirty="0"/>
              <a:t>Pip –version</a:t>
            </a:r>
          </a:p>
          <a:p>
            <a:pPr lvl="1"/>
            <a:r>
              <a:rPr lang="en-IN" dirty="0"/>
              <a:t>Git --version</a:t>
            </a:r>
          </a:p>
          <a:p>
            <a:r>
              <a:rPr lang="en-GB" b="1" dirty="0"/>
              <a:t>Step 2: Clone the Repository</a:t>
            </a:r>
          </a:p>
          <a:p>
            <a:pPr lvl="1"/>
            <a:r>
              <a:rPr lang="en-GB" b="1" dirty="0"/>
              <a:t>git clone </a:t>
            </a:r>
            <a:r>
              <a:rPr lang="en-GB" b="1" dirty="0">
                <a:hlinkClick r:id="rId2"/>
              </a:rPr>
              <a:t>https://github.com/rameshgorrila/langchain-for-beginners</a:t>
            </a:r>
            <a:endParaRPr lang="en-GB" b="1" dirty="0"/>
          </a:p>
          <a:p>
            <a:pPr lvl="1"/>
            <a:r>
              <a:rPr lang="en-IN" dirty="0"/>
              <a:t>cd </a:t>
            </a:r>
            <a:r>
              <a:rPr lang="en-IN" dirty="0" err="1"/>
              <a:t>langchain</a:t>
            </a:r>
            <a:r>
              <a:rPr lang="en-IN" dirty="0"/>
              <a:t>-for-beginners</a:t>
            </a:r>
          </a:p>
          <a:p>
            <a:pPr lvl="1"/>
            <a:r>
              <a:rPr lang="en-IN" dirty="0"/>
              <a:t>python -m </a:t>
            </a:r>
            <a:r>
              <a:rPr lang="en-IN" dirty="0" err="1"/>
              <a:t>venv</a:t>
            </a:r>
            <a:r>
              <a:rPr lang="en-IN" dirty="0"/>
              <a:t> </a:t>
            </a:r>
            <a:r>
              <a:rPr lang="en-IN" dirty="0" err="1"/>
              <a:t>venv</a:t>
            </a:r>
            <a:endParaRPr lang="en-IN" dirty="0"/>
          </a:p>
          <a:p>
            <a:pPr lvl="1"/>
            <a:r>
              <a:rPr lang="en-IN" dirty="0" err="1"/>
              <a:t>venv</a:t>
            </a:r>
            <a:r>
              <a:rPr lang="en-IN" dirty="0"/>
              <a:t>\Scripts\activate</a:t>
            </a:r>
          </a:p>
          <a:p>
            <a:pPr lvl="1"/>
            <a:r>
              <a:rPr lang="en-GB" dirty="0"/>
              <a:t>python -m pip install --upgrade pip </a:t>
            </a:r>
            <a:r>
              <a:rPr lang="en-GB" dirty="0" err="1"/>
              <a:t>setuptools</a:t>
            </a:r>
            <a:r>
              <a:rPr lang="en-GB" dirty="0"/>
              <a:t> wheel</a:t>
            </a:r>
          </a:p>
          <a:p>
            <a:pPr lvl="1"/>
            <a:r>
              <a:rPr lang="en-GB" dirty="0"/>
              <a:t>pip cache purge</a:t>
            </a:r>
          </a:p>
          <a:p>
            <a:pPr lvl="1"/>
            <a:r>
              <a:rPr lang="en-GB" dirty="0"/>
              <a:t>pip install -r requirements.txt</a:t>
            </a:r>
            <a:endParaRPr lang="en-GB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185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9E0A0-C9A3-5378-C8ED-57F3C110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C5D3B-9B8E-2847-2FEA-27A907D3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Course Setup: </a:t>
            </a:r>
            <a:r>
              <a:rPr lang="en-IN" b="1" dirty="0"/>
              <a:t>Local Development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A966-B596-C927-B59E-2F995CDDD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Step 3: Create GitHub Personal Access Token</a:t>
            </a:r>
          </a:p>
          <a:p>
            <a:pPr lvl="1"/>
            <a:r>
              <a:rPr lang="en-IN" b="1" dirty="0"/>
              <a:t>Visit</a:t>
            </a:r>
            <a:r>
              <a:rPr lang="en-IN" dirty="0"/>
              <a:t>: </a:t>
            </a:r>
            <a:r>
              <a:rPr lang="en-IN" u="sng" dirty="0">
                <a:hlinkClick r:id="rId2"/>
              </a:rPr>
              <a:t>https://github.com/settings/tokens/new</a:t>
            </a:r>
            <a:endParaRPr lang="en-IN" dirty="0"/>
          </a:p>
          <a:p>
            <a:pPr lvl="1"/>
            <a:r>
              <a:rPr lang="en-GB" b="1" dirty="0"/>
              <a:t>Create token with name </a:t>
            </a:r>
            <a:r>
              <a:rPr lang="en-IN" dirty="0" err="1"/>
              <a:t>langchain</a:t>
            </a:r>
            <a:r>
              <a:rPr lang="en-IN" dirty="0"/>
              <a:t>-course</a:t>
            </a:r>
            <a:endParaRPr lang="en-GB" b="1" dirty="0"/>
          </a:p>
          <a:p>
            <a:r>
              <a:rPr lang="fr-FR" b="1" dirty="0" err="1"/>
              <a:t>Step</a:t>
            </a:r>
            <a:r>
              <a:rPr lang="fr-FR" b="1" dirty="0"/>
              <a:t> 4: Configure </a:t>
            </a:r>
            <a:r>
              <a:rPr lang="fr-FR" b="1" dirty="0" err="1"/>
              <a:t>Environment</a:t>
            </a:r>
            <a:r>
              <a:rPr lang="fr-FR" b="1" dirty="0"/>
              <a:t> Variables</a:t>
            </a:r>
          </a:p>
          <a:p>
            <a:pPr lvl="1"/>
            <a:r>
              <a:rPr lang="en-IN" dirty="0"/>
              <a:t>copy .</a:t>
            </a:r>
            <a:r>
              <a:rPr lang="en-IN" dirty="0" err="1"/>
              <a:t>env.example</a:t>
            </a:r>
            <a:r>
              <a:rPr lang="en-IN" dirty="0"/>
              <a:t> .env</a:t>
            </a:r>
          </a:p>
          <a:p>
            <a:pPr lvl="1"/>
            <a:r>
              <a:rPr lang="en-IN" dirty="0"/>
              <a:t>Enter </a:t>
            </a:r>
            <a:r>
              <a:rPr lang="en-IN" dirty="0" err="1"/>
              <a:t>apikey</a:t>
            </a:r>
            <a:r>
              <a:rPr lang="en-IN" dirty="0"/>
              <a:t>, endpoint, and model name </a:t>
            </a:r>
          </a:p>
          <a:p>
            <a:pPr lvl="2"/>
            <a:r>
              <a:rPr lang="en-IN" dirty="0"/>
              <a:t>AI_API_KEY=</a:t>
            </a:r>
            <a:r>
              <a:rPr lang="en-IN" dirty="0" err="1"/>
              <a:t>ghp_your_github_token_here</a:t>
            </a:r>
            <a:endParaRPr lang="en-IN" dirty="0"/>
          </a:p>
          <a:p>
            <a:pPr lvl="2"/>
            <a:r>
              <a:rPr lang="en-IN" dirty="0"/>
              <a:t>AI_ENDPOINT=https://models.inference.ai.azure.com</a:t>
            </a:r>
          </a:p>
          <a:p>
            <a:pPr lvl="2"/>
            <a:r>
              <a:rPr lang="en-IN" dirty="0"/>
              <a:t>AI_MODEL=gpt-5-mini</a:t>
            </a:r>
          </a:p>
          <a:p>
            <a:r>
              <a:rPr lang="fr-FR" b="1" dirty="0" err="1"/>
              <a:t>Step</a:t>
            </a:r>
            <a:r>
              <a:rPr lang="fr-FR" b="1" dirty="0"/>
              <a:t> 5: Test Setup</a:t>
            </a:r>
          </a:p>
          <a:p>
            <a:pPr lvl="1"/>
            <a:r>
              <a:rPr lang="en-GB" dirty="0"/>
              <a:t>python scripts/test_setup.py</a:t>
            </a:r>
          </a:p>
          <a:p>
            <a:pPr marL="457200" lvl="1" indent="0">
              <a:buNone/>
            </a:pPr>
            <a:endParaRPr lang="fr-FR" b="1" dirty="0"/>
          </a:p>
          <a:p>
            <a:pPr lvl="2"/>
            <a:endParaRPr lang="en-IN" dirty="0"/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9452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50EFB-469E-1377-34E9-D8E4C555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1C5E-8828-5C6F-0E3D-3262457AE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Course Setup: </a:t>
            </a:r>
            <a:r>
              <a:rPr lang="en-IN" b="1" dirty="0"/>
              <a:t>Local Development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03A19-4E74-0554-C0BB-3A844F545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fr-FR" b="1" dirty="0"/>
          </a:p>
          <a:p>
            <a:pPr lvl="2"/>
            <a:endParaRPr lang="en-IN" dirty="0"/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6A929-B1BA-5AF5-CCEB-AB2A014C5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367" y="1334613"/>
            <a:ext cx="8625423" cy="53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46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E6634-8DBF-1988-EBF5-3CEBFC69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3394-FAEB-D7F0-B36E-9985B4AA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 to </a:t>
            </a:r>
            <a:r>
              <a:rPr lang="en-GB" b="1" dirty="0" err="1"/>
              <a:t>LangChain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14719-AA47-099E-2610-95F412A21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IN" dirty="0"/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D043C7-8C6B-0031-71D7-632C46015337}"/>
              </a:ext>
            </a:extLst>
          </p:cNvPr>
          <p:cNvSpPr txBox="1">
            <a:spLocks/>
          </p:cNvSpPr>
          <p:nvPr/>
        </p:nvSpPr>
        <p:spPr>
          <a:xfrm>
            <a:off x="976953" y="2701357"/>
            <a:ext cx="10515600" cy="983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 err="1"/>
              <a:t>LangChain</a:t>
            </a:r>
            <a:r>
              <a:rPr lang="en-GB" dirty="0"/>
              <a:t> is a </a:t>
            </a:r>
            <a:r>
              <a:rPr lang="en-GB" b="1" dirty="0"/>
              <a:t>framework for building AI-powered applications</a:t>
            </a:r>
            <a:r>
              <a:rPr lang="en-GB" dirty="0"/>
              <a:t> using Large Language Models (LLMs).</a:t>
            </a:r>
            <a:endParaRPr lang="fr-FR" b="1" dirty="0"/>
          </a:p>
          <a:p>
            <a:pPr lvl="2"/>
            <a:endParaRPr lang="en-IN" dirty="0"/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767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716A3-2F63-1A47-4196-32772C48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6096-3128-C9AE-A7BA-E561C077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 to </a:t>
            </a:r>
            <a:r>
              <a:rPr lang="en-GB" b="1" dirty="0" err="1"/>
              <a:t>LangChain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8C5B0-B4F0-6228-4E9F-A867A3102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IN" dirty="0"/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  <p:pic>
        <p:nvPicPr>
          <p:cNvPr id="1026" name="Picture 2" descr="Hardware Store Analogy">
            <a:extLst>
              <a:ext uri="{FF2B5EF4-FFF2-40B4-BE49-F238E27FC236}">
                <a16:creationId xmlns:a16="http://schemas.microsoft.com/office/drawing/2014/main" id="{18997C31-5EA8-1B8A-8C07-22A163DD5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36" y="1263343"/>
            <a:ext cx="10897737" cy="5320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828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7CEABF-8ECD-4B7B-F5BD-516360BC4982}"/>
              </a:ext>
            </a:extLst>
          </p:cNvPr>
          <p:cNvSpPr/>
          <p:nvPr/>
        </p:nvSpPr>
        <p:spPr>
          <a:xfrm>
            <a:off x="6190967" y="1699146"/>
            <a:ext cx="5281116" cy="3678072"/>
          </a:xfrm>
          <a:prstGeom prst="rect">
            <a:avLst/>
          </a:prstGeom>
          <a:solidFill>
            <a:srgbClr val="DFDE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BF39CD-0019-6424-B65B-792C49E39EF0}"/>
              </a:ext>
            </a:extLst>
          </p:cNvPr>
          <p:cNvSpPr/>
          <p:nvPr/>
        </p:nvSpPr>
        <p:spPr>
          <a:xfrm>
            <a:off x="757451" y="1699146"/>
            <a:ext cx="5281116" cy="3678072"/>
          </a:xfrm>
          <a:prstGeom prst="rect">
            <a:avLst/>
          </a:prstGeom>
          <a:solidFill>
            <a:srgbClr val="DFDE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9E9C23-1A11-A227-A08E-C2D8E0E357B7}"/>
              </a:ext>
            </a:extLst>
          </p:cNvPr>
          <p:cNvSpPr txBox="1"/>
          <p:nvPr/>
        </p:nvSpPr>
        <p:spPr>
          <a:xfrm>
            <a:off x="837634" y="1914794"/>
            <a:ext cx="5084928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Without </a:t>
            </a:r>
            <a:r>
              <a:rPr lang="en-GB" b="0" i="0" dirty="0" err="1">
                <a:solidFill>
                  <a:srgbClr val="1F2328"/>
                </a:solidFill>
                <a:effectLst/>
                <a:latin typeface="Mona Sans VF"/>
              </a:rPr>
              <a:t>LangChain</a:t>
            </a: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, you'd need to: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Write different code for each LLM provider (OpenAI, Anthropic, Azure, etc.)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Build your own prompt management system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Create custom tools and function calling logic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Implement memory and conversation handling from scratch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Build agent systems without any structure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38F561-EB36-316D-CBFA-C12F3A08B0A4}"/>
              </a:ext>
            </a:extLst>
          </p:cNvPr>
          <p:cNvSpPr txBox="1">
            <a:spLocks/>
          </p:cNvSpPr>
          <p:nvPr/>
        </p:nvSpPr>
        <p:spPr>
          <a:xfrm>
            <a:off x="838200" y="4629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Introduction to </a:t>
            </a:r>
            <a:r>
              <a:rPr lang="en-GB" b="1" dirty="0" err="1"/>
              <a:t>LangChain</a:t>
            </a:r>
            <a:r>
              <a:rPr lang="en-GB" b="1" dirty="0"/>
              <a:t> : Problems it solves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854A1-79BC-58F1-91C9-F1A02DBF0EC0}"/>
              </a:ext>
            </a:extLst>
          </p:cNvPr>
          <p:cNvSpPr txBox="1"/>
          <p:nvPr/>
        </p:nvSpPr>
        <p:spPr>
          <a:xfrm>
            <a:off x="6190968" y="1974327"/>
            <a:ext cx="524358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With </a:t>
            </a:r>
            <a:r>
              <a:rPr lang="en-GB" b="0" i="0" dirty="0" err="1">
                <a:solidFill>
                  <a:srgbClr val="1F2328"/>
                </a:solidFill>
                <a:effectLst/>
                <a:latin typeface="Mona Sans VF"/>
              </a:rPr>
              <a:t>LangChain</a:t>
            </a: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, you get: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Provider abstraction</a:t>
            </a: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 - Switch between OpenAI, Azure, Anthropic with minimal code changes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Prompt templates</a:t>
            </a: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 - Reusable, testable prompts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Tools</a:t>
            </a: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 - Extend AI with custom functions and APIs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Memory</a:t>
            </a: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 - Built-in conversation history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Agents</a:t>
            </a: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 - Decision-making AI that can use tools</a:t>
            </a:r>
          </a:p>
        </p:txBody>
      </p:sp>
    </p:spTree>
    <p:extLst>
      <p:ext uri="{BB962C8B-B14F-4D97-AF65-F5344CB8AC3E}">
        <p14:creationId xmlns:p14="http://schemas.microsoft.com/office/powerpoint/2010/main" val="331631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D7047-6D3A-C5BF-7C0B-453672A4B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6502-CDB1-362C-57D5-F3982891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 to </a:t>
            </a:r>
            <a:r>
              <a:rPr lang="en-GB" b="1" dirty="0" err="1"/>
              <a:t>LangChain</a:t>
            </a:r>
            <a:r>
              <a:rPr lang="en-GB" b="1" dirty="0"/>
              <a:t> : Core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95022-02EC-6562-12CF-35A8326FB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IN" dirty="0"/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2E776E-4591-B87B-B7AC-A68691A723CD}"/>
              </a:ext>
            </a:extLst>
          </p:cNvPr>
          <p:cNvSpPr txBox="1">
            <a:spLocks/>
          </p:cNvSpPr>
          <p:nvPr/>
        </p:nvSpPr>
        <p:spPr>
          <a:xfrm>
            <a:off x="949657" y="1825625"/>
            <a:ext cx="10515600" cy="40565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 err="1"/>
              <a:t>LangChain</a:t>
            </a:r>
            <a:r>
              <a:rPr lang="en-GB" dirty="0"/>
              <a:t> is built around 5 core concepts you'll learn throughout this course:</a:t>
            </a:r>
            <a:endParaRPr lang="en-IN" dirty="0"/>
          </a:p>
          <a:p>
            <a:r>
              <a:rPr lang="en-GB" b="1" dirty="0"/>
              <a:t>Models</a:t>
            </a:r>
            <a:r>
              <a:rPr lang="en-GB" dirty="0"/>
              <a:t>: AI "brains" that process inputs and generate outputs. </a:t>
            </a:r>
          </a:p>
          <a:p>
            <a:r>
              <a:rPr lang="en-GB" b="1" dirty="0"/>
              <a:t>Prompts</a:t>
            </a:r>
            <a:r>
              <a:rPr lang="en-GB" dirty="0"/>
              <a:t>: How you communicate with AI models using reusable templates.</a:t>
            </a:r>
          </a:p>
          <a:p>
            <a:r>
              <a:rPr lang="en-GB" b="1" dirty="0"/>
              <a:t>Tools</a:t>
            </a:r>
            <a:r>
              <a:rPr lang="en-GB" dirty="0"/>
              <a:t>: Extend AI capabilities with external functions and APIs.</a:t>
            </a:r>
          </a:p>
          <a:p>
            <a:r>
              <a:rPr lang="en-GB" b="1" dirty="0"/>
              <a:t>Agents</a:t>
            </a:r>
            <a:r>
              <a:rPr lang="en-GB" dirty="0"/>
              <a:t>: AI systems that reason and decide which tools to use autonomously.</a:t>
            </a:r>
          </a:p>
          <a:p>
            <a:r>
              <a:rPr lang="en-GB" b="1" dirty="0"/>
              <a:t>Memory</a:t>
            </a:r>
            <a:r>
              <a:rPr lang="en-GB" dirty="0"/>
              <a:t>: Remember context across interactions. </a:t>
            </a:r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2887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529A7-967D-423B-D197-D6DEE9C0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it works?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A8F570-4057-460B-7FB9-837B8C3E6576}"/>
              </a:ext>
            </a:extLst>
          </p:cNvPr>
          <p:cNvSpPr/>
          <p:nvPr/>
        </p:nvSpPr>
        <p:spPr>
          <a:xfrm>
            <a:off x="1619535" y="2195580"/>
            <a:ext cx="1371600" cy="767687"/>
          </a:xfrm>
          <a:prstGeom prst="rect">
            <a:avLst/>
          </a:prstGeom>
          <a:solidFill>
            <a:srgbClr val="DFDE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User Input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EF95BB-CBB0-2E30-E01E-D8C45D78A773}"/>
              </a:ext>
            </a:extLst>
          </p:cNvPr>
          <p:cNvSpPr/>
          <p:nvPr/>
        </p:nvSpPr>
        <p:spPr>
          <a:xfrm>
            <a:off x="4038600" y="2195580"/>
            <a:ext cx="1371600" cy="767687"/>
          </a:xfrm>
          <a:prstGeom prst="rect">
            <a:avLst/>
          </a:prstGeom>
          <a:solidFill>
            <a:srgbClr val="DFDE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Memory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E8232C-49D1-78DB-CDE8-402A8CFF1005}"/>
              </a:ext>
            </a:extLst>
          </p:cNvPr>
          <p:cNvSpPr/>
          <p:nvPr/>
        </p:nvSpPr>
        <p:spPr>
          <a:xfrm>
            <a:off x="6457665" y="2195579"/>
            <a:ext cx="1371600" cy="767687"/>
          </a:xfrm>
          <a:prstGeom prst="rect">
            <a:avLst/>
          </a:prstGeom>
          <a:solidFill>
            <a:srgbClr val="DFDE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Prompts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A60FE-4612-7907-E222-092090A4CF21}"/>
              </a:ext>
            </a:extLst>
          </p:cNvPr>
          <p:cNvSpPr/>
          <p:nvPr/>
        </p:nvSpPr>
        <p:spPr>
          <a:xfrm>
            <a:off x="3104866" y="4774440"/>
            <a:ext cx="1371600" cy="767687"/>
          </a:xfrm>
          <a:prstGeom prst="rect">
            <a:avLst/>
          </a:prstGeom>
          <a:solidFill>
            <a:srgbClr val="DFDE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Tools/Agents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8B0781-4877-DFB8-CCA6-C822A06FAEF8}"/>
              </a:ext>
            </a:extLst>
          </p:cNvPr>
          <p:cNvSpPr/>
          <p:nvPr/>
        </p:nvSpPr>
        <p:spPr>
          <a:xfrm>
            <a:off x="5720686" y="4774440"/>
            <a:ext cx="1371600" cy="767687"/>
          </a:xfrm>
          <a:prstGeom prst="rect">
            <a:avLst/>
          </a:prstGeom>
          <a:solidFill>
            <a:srgbClr val="DFDE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Models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C11D0-3F56-883C-2177-678F11922285}"/>
              </a:ext>
            </a:extLst>
          </p:cNvPr>
          <p:cNvSpPr/>
          <p:nvPr/>
        </p:nvSpPr>
        <p:spPr>
          <a:xfrm>
            <a:off x="8659504" y="4774440"/>
            <a:ext cx="1371600" cy="767687"/>
          </a:xfrm>
          <a:prstGeom prst="rect">
            <a:avLst/>
          </a:prstGeom>
          <a:solidFill>
            <a:srgbClr val="DFDE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Response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DDE01D-DDD7-A0D4-0248-A7AB7C91975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991135" y="2579424"/>
            <a:ext cx="1047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F92172-20DA-D403-F833-939E915F2A49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5410200" y="2579423"/>
            <a:ext cx="10474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6B6EE7E-7887-48EE-123B-A40C27968792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H="1">
            <a:off x="3104866" y="2579423"/>
            <a:ext cx="4724399" cy="2578861"/>
          </a:xfrm>
          <a:prstGeom prst="bentConnector5">
            <a:avLst>
              <a:gd name="adj1" fmla="val -4839"/>
              <a:gd name="adj2" fmla="val 50000"/>
              <a:gd name="adj3" fmla="val 1048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0FD628-B5B3-6E7E-5C6C-B381249877A0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4476466" y="5158284"/>
            <a:ext cx="1244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0EF7E3-977D-1322-97EC-09DF1ABAD9AF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7092286" y="5158284"/>
            <a:ext cx="15672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890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18FFC-4E07-EDB9-A92F-5EB5400F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EFDA-7168-6B86-FF92-335CE522A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Hands-On: Your First LLM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BC298-FC36-F892-A217-708DC6799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IN" dirty="0"/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4A0138-EBF7-B1FB-9B16-50BCA32070AC}"/>
              </a:ext>
            </a:extLst>
          </p:cNvPr>
          <p:cNvSpPr txBox="1">
            <a:spLocks/>
          </p:cNvSpPr>
          <p:nvPr/>
        </p:nvSpPr>
        <p:spPr>
          <a:xfrm>
            <a:off x="908714" y="2320121"/>
            <a:ext cx="10515600" cy="2620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r>
              <a:rPr lang="en-GB" b="1" dirty="0"/>
              <a:t>Step 1: Import what we need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IN" i="1" dirty="0"/>
              <a:t>from </a:t>
            </a:r>
            <a:r>
              <a:rPr lang="en-IN" i="1" dirty="0" err="1"/>
              <a:t>langchain_openai</a:t>
            </a:r>
            <a:r>
              <a:rPr lang="en-IN" i="1" dirty="0"/>
              <a:t> import </a:t>
            </a:r>
            <a:r>
              <a:rPr lang="en-IN" i="1" dirty="0" err="1"/>
              <a:t>ChatOpenAI</a:t>
            </a:r>
            <a:endParaRPr lang="en-IN" i="1" dirty="0"/>
          </a:p>
          <a:p>
            <a:pPr marL="914400" lvl="2" indent="0">
              <a:buNone/>
            </a:pPr>
            <a:r>
              <a:rPr lang="en-IN" i="1" dirty="0"/>
              <a:t>from </a:t>
            </a:r>
            <a:r>
              <a:rPr lang="en-IN" i="1" dirty="0" err="1"/>
              <a:t>dotenv</a:t>
            </a:r>
            <a:r>
              <a:rPr lang="en-IN" i="1" dirty="0"/>
              <a:t> import </a:t>
            </a:r>
            <a:r>
              <a:rPr lang="en-IN" i="1" dirty="0" err="1"/>
              <a:t>load_dotenv</a:t>
            </a:r>
            <a:endParaRPr lang="en-IN" i="1" dirty="0"/>
          </a:p>
          <a:p>
            <a:pPr marL="914400" lvl="2" indent="0">
              <a:buNone/>
            </a:pPr>
            <a:r>
              <a:rPr lang="en-IN" i="1" dirty="0"/>
              <a:t>import </a:t>
            </a:r>
            <a:r>
              <a:rPr lang="en-IN" i="1" dirty="0" err="1"/>
              <a:t>os</a:t>
            </a:r>
            <a:endParaRPr lang="en-IN" i="1" dirty="0"/>
          </a:p>
          <a:p>
            <a:pPr marL="914400" lvl="2" indent="0">
              <a:buNone/>
            </a:pPr>
            <a:endParaRPr lang="en-IN" i="1" dirty="0"/>
          </a:p>
          <a:p>
            <a:pPr marL="914400" lvl="2" indent="0">
              <a:buNone/>
            </a:pPr>
            <a:r>
              <a:rPr lang="en-IN" i="1" dirty="0" err="1"/>
              <a:t>load_dotenv</a:t>
            </a:r>
            <a:r>
              <a:rPr lang="en-IN" i="1" dirty="0"/>
              <a:t>()</a:t>
            </a:r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769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288C7-308D-903F-C23C-09BC2F72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09808-3C6A-5F18-CEB6-07D6B46F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Hands-On: Your First LLM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0411A-471B-9573-ABD3-B65D00DD0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IN" dirty="0"/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F791D5-9EE2-0EB0-9221-BFFDA8D53DC8}"/>
              </a:ext>
            </a:extLst>
          </p:cNvPr>
          <p:cNvSpPr txBox="1">
            <a:spLocks/>
          </p:cNvSpPr>
          <p:nvPr/>
        </p:nvSpPr>
        <p:spPr>
          <a:xfrm>
            <a:off x="908714" y="2320121"/>
            <a:ext cx="10515600" cy="2620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r>
              <a:rPr lang="en-GB" b="1" dirty="0"/>
              <a:t>Step 2: Create the AI Model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IN" i="1" dirty="0"/>
              <a:t>model = </a:t>
            </a:r>
            <a:r>
              <a:rPr lang="en-IN" i="1" dirty="0" err="1"/>
              <a:t>ChatOpenAI</a:t>
            </a:r>
            <a:r>
              <a:rPr lang="en-IN" i="1" dirty="0"/>
              <a:t>(</a:t>
            </a:r>
          </a:p>
          <a:p>
            <a:pPr marL="914400" lvl="2" indent="0">
              <a:buNone/>
            </a:pPr>
            <a:r>
              <a:rPr lang="en-IN" i="1" dirty="0"/>
              <a:t>    model=</a:t>
            </a:r>
            <a:r>
              <a:rPr lang="en-IN" i="1" dirty="0" err="1"/>
              <a:t>os.getenv</a:t>
            </a:r>
            <a:r>
              <a:rPr lang="en-IN" i="1" dirty="0"/>
              <a:t>("AI_MODEL"),</a:t>
            </a:r>
          </a:p>
          <a:p>
            <a:pPr marL="914400" lvl="2" indent="0">
              <a:buNone/>
            </a:pPr>
            <a:r>
              <a:rPr lang="en-IN" i="1" dirty="0"/>
              <a:t>    </a:t>
            </a:r>
            <a:r>
              <a:rPr lang="en-IN" i="1" dirty="0" err="1"/>
              <a:t>base_url</a:t>
            </a:r>
            <a:r>
              <a:rPr lang="en-IN" i="1" dirty="0"/>
              <a:t>=</a:t>
            </a:r>
            <a:r>
              <a:rPr lang="en-IN" i="1" dirty="0" err="1"/>
              <a:t>os.getenv</a:t>
            </a:r>
            <a:r>
              <a:rPr lang="en-IN" i="1" dirty="0"/>
              <a:t>("AI_ENDPOINT"),</a:t>
            </a:r>
          </a:p>
          <a:p>
            <a:pPr marL="914400" lvl="2" indent="0">
              <a:buNone/>
            </a:pPr>
            <a:r>
              <a:rPr lang="en-IN" i="1" dirty="0"/>
              <a:t>    </a:t>
            </a:r>
            <a:r>
              <a:rPr lang="en-IN" i="1" dirty="0" err="1"/>
              <a:t>api_key</a:t>
            </a:r>
            <a:r>
              <a:rPr lang="en-IN" i="1" dirty="0"/>
              <a:t>=</a:t>
            </a:r>
            <a:r>
              <a:rPr lang="en-IN" i="1" dirty="0" err="1"/>
              <a:t>os.getenv</a:t>
            </a:r>
            <a:r>
              <a:rPr lang="en-IN" i="1" dirty="0"/>
              <a:t>("AI_API_KEY")</a:t>
            </a:r>
          </a:p>
          <a:p>
            <a:pPr marL="914400" lvl="2" indent="0">
              <a:buNone/>
            </a:pPr>
            <a:r>
              <a:rPr lang="en-IN" i="1" dirty="0"/>
              <a:t>)</a:t>
            </a:r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49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EA857-F8F6-64CA-C916-C66D4CEE6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3D248-E074-B6F6-CFAF-CF172F58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Hands-On: Your First LLM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9A82-44C5-BE9F-F064-8A9276A23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IN" dirty="0"/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BF6C26-3948-8149-4C32-988A96EB921F}"/>
              </a:ext>
            </a:extLst>
          </p:cNvPr>
          <p:cNvSpPr txBox="1">
            <a:spLocks/>
          </p:cNvSpPr>
          <p:nvPr/>
        </p:nvSpPr>
        <p:spPr>
          <a:xfrm>
            <a:off x="908714" y="2320121"/>
            <a:ext cx="10515600" cy="2620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r>
              <a:rPr lang="en-GB" b="1" dirty="0"/>
              <a:t>Step 3: Ask the LLM a question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GB" i="1" dirty="0"/>
              <a:t>response = </a:t>
            </a:r>
            <a:r>
              <a:rPr lang="en-GB" i="1" dirty="0" err="1"/>
              <a:t>model.invoke</a:t>
            </a:r>
            <a:r>
              <a:rPr lang="en-GB" i="1" dirty="0"/>
              <a:t>("What is </a:t>
            </a:r>
            <a:r>
              <a:rPr lang="en-GB" i="1" dirty="0" err="1"/>
              <a:t>LangChain</a:t>
            </a:r>
            <a:r>
              <a:rPr lang="en-GB" i="1" dirty="0"/>
              <a:t> in one sentence?")</a:t>
            </a:r>
          </a:p>
          <a:p>
            <a:pPr marL="914400" lvl="2" indent="0">
              <a:buNone/>
            </a:pPr>
            <a:r>
              <a:rPr lang="en-GB" i="1" dirty="0"/>
              <a:t>print("AI Response:", </a:t>
            </a:r>
            <a:r>
              <a:rPr lang="en-GB" i="1" dirty="0" err="1"/>
              <a:t>response.content</a:t>
            </a:r>
            <a:r>
              <a:rPr lang="en-GB" i="1" dirty="0"/>
              <a:t>)</a:t>
            </a:r>
            <a:endParaRPr lang="en-GB" b="1" dirty="0"/>
          </a:p>
          <a:p>
            <a:endParaRPr lang="en-IN" b="1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639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9E1C-759A-3E54-C4DE-2FDF9F78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177C-EAEE-871C-8F45-F0E92DF30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Hands-On: Your First LLM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9302A-C5B4-9D79-1DD7-474446A73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IN" dirty="0"/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5903E2-E0BF-BAA2-F1C7-0066F792C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720" y="1409598"/>
            <a:ext cx="8905164" cy="490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379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6146E-0A62-1857-A2A1-2CDC17502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361E-D35F-2146-B515-129A84D1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Hands-On: Message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CB5BC-7A01-B747-8184-E52ADFA50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IN" dirty="0"/>
          </a:p>
          <a:p>
            <a:endParaRPr lang="fr-FR" b="1" dirty="0"/>
          </a:p>
          <a:p>
            <a:endParaRPr lang="en-GB" b="1" dirty="0"/>
          </a:p>
          <a:p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01BEC9-0951-7F4C-45D2-890E054756D3}"/>
              </a:ext>
            </a:extLst>
          </p:cNvPr>
          <p:cNvSpPr txBox="1">
            <a:spLocks/>
          </p:cNvSpPr>
          <p:nvPr/>
        </p:nvSpPr>
        <p:spPr>
          <a:xfrm>
            <a:off x="908714" y="1690689"/>
            <a:ext cx="10515600" cy="443033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i="1" dirty="0"/>
              <a:t>from </a:t>
            </a:r>
            <a:r>
              <a:rPr lang="en-IN" i="1" dirty="0" err="1"/>
              <a:t>langchain_core.messages</a:t>
            </a:r>
            <a:r>
              <a:rPr lang="en-IN" i="1" dirty="0"/>
              <a:t> import </a:t>
            </a:r>
            <a:r>
              <a:rPr lang="en-IN" i="1" dirty="0" err="1"/>
              <a:t>HumanMessage</a:t>
            </a:r>
            <a:r>
              <a:rPr lang="en-IN" i="1" dirty="0"/>
              <a:t>, </a:t>
            </a:r>
            <a:r>
              <a:rPr lang="en-IN" i="1" dirty="0" err="1"/>
              <a:t>SystemMessage</a:t>
            </a:r>
            <a:endParaRPr lang="en-IN" i="1" dirty="0"/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i="1" dirty="0"/>
              <a:t>model = </a:t>
            </a:r>
            <a:r>
              <a:rPr lang="en-IN" i="1" dirty="0" err="1"/>
              <a:t>ChatOpenAI</a:t>
            </a:r>
            <a:r>
              <a:rPr lang="en-IN" i="1" dirty="0"/>
              <a:t>(</a:t>
            </a:r>
          </a:p>
          <a:p>
            <a:pPr marL="0" indent="0">
              <a:buNone/>
            </a:pPr>
            <a:r>
              <a:rPr lang="en-IN" i="1" dirty="0"/>
              <a:t>        model=</a:t>
            </a:r>
            <a:r>
              <a:rPr lang="en-IN" i="1" dirty="0" err="1"/>
              <a:t>os.getenv</a:t>
            </a:r>
            <a:r>
              <a:rPr lang="en-IN" i="1" dirty="0"/>
              <a:t>("AI_MODEL"),</a:t>
            </a:r>
          </a:p>
          <a:p>
            <a:pPr marL="0" indent="0">
              <a:buNone/>
            </a:pPr>
            <a:r>
              <a:rPr lang="en-IN" i="1" dirty="0"/>
              <a:t>        </a:t>
            </a:r>
            <a:r>
              <a:rPr lang="en-IN" i="1" dirty="0" err="1"/>
              <a:t>base_url</a:t>
            </a:r>
            <a:r>
              <a:rPr lang="en-IN" i="1" dirty="0"/>
              <a:t>=</a:t>
            </a:r>
            <a:r>
              <a:rPr lang="en-IN" i="1" dirty="0" err="1"/>
              <a:t>os.getenv</a:t>
            </a:r>
            <a:r>
              <a:rPr lang="en-IN" i="1" dirty="0"/>
              <a:t>("AI_ENDPOINT"),</a:t>
            </a:r>
          </a:p>
          <a:p>
            <a:pPr marL="0" indent="0">
              <a:buNone/>
            </a:pPr>
            <a:r>
              <a:rPr lang="en-IN" i="1" dirty="0"/>
              <a:t>        </a:t>
            </a:r>
            <a:r>
              <a:rPr lang="en-IN" i="1" dirty="0" err="1"/>
              <a:t>api_key</a:t>
            </a:r>
            <a:r>
              <a:rPr lang="en-IN" i="1" dirty="0"/>
              <a:t>=</a:t>
            </a:r>
            <a:r>
              <a:rPr lang="en-IN" i="1" dirty="0" err="1"/>
              <a:t>os.getenv</a:t>
            </a:r>
            <a:r>
              <a:rPr lang="en-IN" i="1" dirty="0"/>
              <a:t>("AI_API_KEY")</a:t>
            </a:r>
          </a:p>
          <a:p>
            <a:pPr marL="0" indent="0">
              <a:buNone/>
            </a:pPr>
            <a:r>
              <a:rPr lang="en-IN" i="1" dirty="0"/>
              <a:t>    )</a:t>
            </a:r>
          </a:p>
          <a:p>
            <a:pPr marL="0" indent="0">
              <a:buNone/>
            </a:pPr>
            <a:br>
              <a:rPr lang="en-IN" i="1" dirty="0"/>
            </a:br>
            <a:endParaRPr lang="en-IN" i="1" dirty="0"/>
          </a:p>
          <a:p>
            <a:pPr marL="0" indent="0">
              <a:buNone/>
            </a:pPr>
            <a:r>
              <a:rPr lang="en-IN" i="1" dirty="0"/>
              <a:t>    # Using structured messages for better control</a:t>
            </a:r>
          </a:p>
          <a:p>
            <a:pPr marL="0" indent="0">
              <a:buNone/>
            </a:pPr>
            <a:r>
              <a:rPr lang="en-IN" i="1" dirty="0"/>
              <a:t>    messages = [</a:t>
            </a:r>
          </a:p>
          <a:p>
            <a:pPr marL="0" indent="0">
              <a:buNone/>
            </a:pPr>
            <a:r>
              <a:rPr lang="en-IN" i="1" dirty="0"/>
              <a:t>        </a:t>
            </a:r>
            <a:r>
              <a:rPr lang="en-IN" i="1" dirty="0" err="1"/>
              <a:t>SystemMessage</a:t>
            </a:r>
            <a:r>
              <a:rPr lang="en-IN" i="1" dirty="0"/>
              <a:t>(content="You are a helpful AI assistant who explains things simply."),</a:t>
            </a:r>
          </a:p>
          <a:p>
            <a:pPr marL="0" indent="0">
              <a:buNone/>
            </a:pPr>
            <a:r>
              <a:rPr lang="en-IN" i="1" dirty="0"/>
              <a:t>        </a:t>
            </a:r>
            <a:r>
              <a:rPr lang="en-IN" i="1" dirty="0" err="1"/>
              <a:t>HumanMessage</a:t>
            </a:r>
            <a:r>
              <a:rPr lang="en-IN" i="1" dirty="0"/>
              <a:t>(content="Explain quantum computing to a 10-year-old."),</a:t>
            </a:r>
          </a:p>
          <a:p>
            <a:pPr marL="0" indent="0">
              <a:buNone/>
            </a:pPr>
            <a:r>
              <a:rPr lang="en-IN" i="1" dirty="0"/>
              <a:t>    ]</a:t>
            </a:r>
          </a:p>
          <a:p>
            <a:pPr marL="0" indent="0">
              <a:buNone/>
            </a:pPr>
            <a:endParaRPr lang="en-IN" b="1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IN" dirty="0"/>
          </a:p>
          <a:p>
            <a:pPr lvl="1"/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46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642</Words>
  <Application>Microsoft Office PowerPoint</Application>
  <PresentationFormat>Widescreen</PresentationFormat>
  <Paragraphs>171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Mona Sans VF</vt:lpstr>
      <vt:lpstr>Office Theme</vt:lpstr>
      <vt:lpstr>PowerPoint Presentation</vt:lpstr>
      <vt:lpstr>Course Setup: Prerequisites</vt:lpstr>
      <vt:lpstr>Course Setup: Local Development</vt:lpstr>
      <vt:lpstr>Course Setup: Local Development</vt:lpstr>
      <vt:lpstr>Course Setup: Local Development</vt:lpstr>
      <vt:lpstr>Introduction to LangChain</vt:lpstr>
      <vt:lpstr>Introduction to LangChain</vt:lpstr>
      <vt:lpstr>PowerPoint Presentation</vt:lpstr>
      <vt:lpstr>Introduction to LangChain : Core Concepts</vt:lpstr>
      <vt:lpstr>How it works?</vt:lpstr>
      <vt:lpstr>Hands-On: Your First LLM Call</vt:lpstr>
      <vt:lpstr>Hands-On: Your First LLM Call</vt:lpstr>
      <vt:lpstr>Hands-On: Your First LLM Call</vt:lpstr>
      <vt:lpstr>Hands-On: Your First LLM Call</vt:lpstr>
      <vt:lpstr>Hands-On: Message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Gorrila</dc:creator>
  <cp:lastModifiedBy>Ramesh Gorrila</cp:lastModifiedBy>
  <cp:revision>14</cp:revision>
  <dcterms:created xsi:type="dcterms:W3CDTF">2026-04-04T08:05:19Z</dcterms:created>
  <dcterms:modified xsi:type="dcterms:W3CDTF">2026-04-05T01:27:00Z</dcterms:modified>
</cp:coreProperties>
</file>